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9" r:id="rId2"/>
    <p:sldId id="280" r:id="rId3"/>
    <p:sldId id="282" r:id="rId4"/>
    <p:sldId id="256" r:id="rId5"/>
    <p:sldId id="257" r:id="rId6"/>
    <p:sldId id="260" r:id="rId7"/>
    <p:sldId id="261" r:id="rId8"/>
    <p:sldId id="262" r:id="rId9"/>
    <p:sldId id="264" r:id="rId10"/>
    <p:sldId id="265" r:id="rId11"/>
    <p:sldId id="263" r:id="rId12"/>
    <p:sldId id="266" r:id="rId13"/>
    <p:sldId id="258" r:id="rId14"/>
    <p:sldId id="268" r:id="rId15"/>
    <p:sldId id="267" r:id="rId16"/>
    <p:sldId id="269" r:id="rId17"/>
    <p:sldId id="270" r:id="rId18"/>
    <p:sldId id="271" r:id="rId19"/>
    <p:sldId id="272" r:id="rId20"/>
    <p:sldId id="273" r:id="rId21"/>
    <p:sldId id="274" r:id="rId22"/>
    <p:sldId id="276" r:id="rId23"/>
    <p:sldId id="275" r:id="rId24"/>
    <p:sldId id="277" r:id="rId25"/>
    <p:sldId id="281" r:id="rId26"/>
    <p:sldId id="27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4" autoAdjust="0"/>
    <p:restoredTop sz="94660"/>
  </p:normalViewPr>
  <p:slideViewPr>
    <p:cSldViewPr snapToGrid="0">
      <p:cViewPr varScale="1">
        <p:scale>
          <a:sx n="87" d="100"/>
          <a:sy n="87" d="100"/>
        </p:scale>
        <p:origin x="7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ctoranzueto4-byte/Actividad_4_python" TargetMode="External"/><Relationship Id="rId2" Type="http://schemas.openxmlformats.org/officeDocument/2006/relationships/hyperlink" Target="https://github.com/hectoranzueto4-byte/Actividad_4_javafx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hectoranzueto4-byte/SIM-Tema-4_Hector-Yazid-Anzueto-Lopez" TargetMode="External"/><Relationship Id="rId4" Type="http://schemas.openxmlformats.org/officeDocument/2006/relationships/hyperlink" Target="https://github.com/hectoranzueto4-byte/Actividad_4_Lenguaj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2646485" y="2245542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MX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Instituto Tecnológico de Frontera Comalapa Modalidad Mixta</a:t>
            </a:r>
            <a:endParaRPr kumimoji="0" lang="es-MX" altLang="es-MX" sz="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algn="ctr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MX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Materia:</a:t>
            </a:r>
            <a:endParaRPr kumimoji="0" lang="es-MX" altLang="es-MX" sz="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algn="ctr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MX" sz="16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Simulacion</a:t>
            </a:r>
            <a:endParaRPr kumimoji="0" lang="es-MX" altLang="es-MX" sz="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algn="ctr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MX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Semestre: </a:t>
            </a:r>
            <a:r>
              <a:rPr kumimoji="0" lang="es-ES" altLang="es-MX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Quinto</a:t>
            </a:r>
            <a:endParaRPr kumimoji="0" lang="es-MX" altLang="es-MX" sz="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algn="ctr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MX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s-ES" altLang="es-MX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Carrera:</a:t>
            </a:r>
            <a:endParaRPr kumimoji="0" lang="es-MX" altLang="es-MX" sz="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algn="ctr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MX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Ingeniería en sistemas computacionales</a:t>
            </a:r>
            <a:endParaRPr kumimoji="0" lang="es-MX" altLang="es-MX" sz="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algn="ctr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MX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Numero de control:</a:t>
            </a:r>
            <a:endParaRPr kumimoji="0" lang="es-MX" altLang="es-MX" sz="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algn="ctr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MX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241260005</a:t>
            </a:r>
            <a:endParaRPr kumimoji="0" lang="es-MX" altLang="es-MX" sz="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algn="ctr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MX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Nombre del alumno:</a:t>
            </a:r>
            <a:endParaRPr kumimoji="0" lang="es-MX" altLang="es-MX" sz="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algn="ctr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MX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s-ES" altLang="es-MX" sz="16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Hector</a:t>
            </a:r>
            <a:r>
              <a:rPr kumimoji="0" lang="es-ES" altLang="es-MX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s-ES" altLang="es-MX" sz="16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Yazid</a:t>
            </a:r>
            <a:r>
              <a:rPr kumimoji="0" lang="es-ES" altLang="es-MX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s-ES" altLang="es-MX" sz="16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Anzueto</a:t>
            </a:r>
            <a:r>
              <a:rPr kumimoji="0" lang="es-ES" altLang="es-MX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s-ES" altLang="es-MX" sz="16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Lopez</a:t>
            </a:r>
            <a:r>
              <a:rPr kumimoji="0" lang="es-ES" altLang="es-MX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kumimoji="0" lang="es-MX" altLang="es-MX" sz="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algn="ctr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MX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Nombre del docente:</a:t>
            </a:r>
            <a:endParaRPr kumimoji="0" lang="es-MX" altLang="es-MX" sz="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algn="ctr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MX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Francisco Javier Velázquez Mingo</a:t>
            </a:r>
            <a:endParaRPr kumimoji="0" lang="es-MX" altLang="es-MX" sz="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algn="ctr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MX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Nombre del trabajo:</a:t>
            </a:r>
            <a:endParaRPr kumimoji="0" lang="es-MX" altLang="es-MX" sz="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algn="ctr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MX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Actividad 4.2 Reporte de practica.</a:t>
            </a:r>
            <a:endParaRPr kumimoji="0" lang="es-MX" altLang="es-MX" sz="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algn="ctr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MX" sz="1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Fecha de entrega:</a:t>
            </a:r>
            <a:endParaRPr kumimoji="0" lang="es-MX" altLang="es-MX" sz="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algn="ctr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MX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Frontera Comalapa, Chiapas a 29 de septiembre de 2026</a:t>
            </a:r>
            <a:endParaRPr kumimoji="0" lang="es-ES" altLang="es-MX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pic>
        <p:nvPicPr>
          <p:cNvPr id="4" name="Image 1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24235" y="1143817"/>
            <a:ext cx="6318250" cy="110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1197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Introducción 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 simulación de sistemas y el análisis de datos se han convertido en pilares fundamentales para la toma de decisiones estratégicas, el diseño de experimentos y la optimización de procesos en entornos académicos e industriales. Este reporte detalla el desarrollo y la ejecución de una serie de casos prácticos de simulación, abordados desde un enfoque multidisciplinario mediante la integración de tres tecnologías líderes en el software actual: </a:t>
            </a:r>
            <a:r>
              <a:rPr lang="es-MX" dirty="0" err="1"/>
              <a:t>JavaFX</a:t>
            </a:r>
            <a:r>
              <a:rPr lang="es-MX" dirty="0"/>
              <a:t>, Python y el lenguaje R.</a:t>
            </a:r>
          </a:p>
        </p:txBody>
      </p:sp>
    </p:spTree>
    <p:extLst>
      <p:ext uri="{BB962C8B-B14F-4D97-AF65-F5344CB8AC3E}">
        <p14:creationId xmlns:p14="http://schemas.microsoft.com/office/powerpoint/2010/main" val="1682652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Justificación 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 desarrollo de simulaciones informáticas requiere un balance óptimo entre una presentación visual accesible, una lógica de cómputo eficiente y un análisis matemático profundo. Frecuentemente, un solo lenguaje de programación no cubre estas tres necesidades con la misma eficacia. Por ello, esta práctica se justifica en la necesidad de </a:t>
            </a:r>
            <a:r>
              <a:rPr lang="es-MX" b="1" dirty="0"/>
              <a:t>evaluar la interoperabilidad técnica</a:t>
            </a:r>
            <a:r>
              <a:rPr lang="es-MX" dirty="0"/>
              <a:t> y los beneficios de un entorno de software híbrido.</a:t>
            </a:r>
          </a:p>
        </p:txBody>
      </p:sp>
    </p:spTree>
    <p:extLst>
      <p:ext uri="{BB962C8B-B14F-4D97-AF65-F5344CB8AC3E}">
        <p14:creationId xmlns:p14="http://schemas.microsoft.com/office/powerpoint/2010/main" val="3782391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 smtClean="0"/>
              <a:t>Javafx</a:t>
            </a:r>
            <a:endParaRPr lang="es-MX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9153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5567"/>
            <a:ext cx="5846674" cy="328875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923" y="2118834"/>
            <a:ext cx="5299598" cy="2981024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232981" y="386861"/>
            <a:ext cx="2813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1.1 crear nuevo archivo</a:t>
            </a:r>
            <a:endParaRPr lang="es-MX" dirty="0"/>
          </a:p>
        </p:txBody>
      </p:sp>
      <p:sp>
        <p:nvSpPr>
          <p:cNvPr id="19" name="CuadroTexto 18"/>
          <p:cNvSpPr txBox="1"/>
          <p:nvPr/>
        </p:nvSpPr>
        <p:spPr>
          <a:xfrm>
            <a:off x="624254" y="1283677"/>
            <a:ext cx="6831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Seleccionar </a:t>
            </a:r>
            <a:r>
              <a:rPr lang="es-MX" dirty="0" err="1" smtClean="0"/>
              <a:t>javafx</a:t>
            </a:r>
            <a:r>
              <a:rPr lang="es-MX" dirty="0" smtClean="0"/>
              <a:t> y nombrar archivo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585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41380" y="212831"/>
            <a:ext cx="8317992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5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s-MX" altLang="es-MX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MX" altLang="es-MX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CREACIÓN DE LA APLICACIÓN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Paso 1: Configuración del Entorno y Estructura del Proyecto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creó un proyecto Java estándar dentro del IDE y se añadieron las dependencias de </a:t>
            </a:r>
            <a:r>
              <a:rPr kumimoji="0" lang="es-MX" altLang="es-MX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JavaFX</a:t>
            </a:r>
            <a:r>
              <a:rPr kumimoji="0" lang="es-MX" altLang="es-MX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SDK</a:t>
            </a:r>
            <a:r>
              <a:rPr kumimoji="0" lang="es-MX" altLang="es-MX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(módulos </a:t>
            </a:r>
            <a:r>
              <a:rPr kumimoji="0" lang="es-MX" altLang="es-MX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javafx.controls</a:t>
            </a:r>
            <a:r>
              <a:rPr kumimoji="0" lang="es-MX" altLang="es-MX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kumimoji="0" lang="es-MX" altLang="es-MX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javafx.fxml</a:t>
            </a:r>
            <a:r>
              <a:rPr kumimoji="0" lang="es-MX" altLang="es-MX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 Todos los archivos se organizaron en diferentes paquete o directorio de recursos para asegurar el correcto mapeo de rutas relativas: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358" b="37684"/>
          <a:stretch/>
        </p:blipFill>
        <p:spPr>
          <a:xfrm>
            <a:off x="141380" y="1459326"/>
            <a:ext cx="4680324" cy="294847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845" y="2109956"/>
            <a:ext cx="5471121" cy="3077505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5809845" y="1459326"/>
            <a:ext cx="5162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Usar la función </a:t>
            </a:r>
            <a:r>
              <a:rPr lang="es-MX" dirty="0" err="1" smtClean="0"/>
              <a:t>refactor</a:t>
            </a:r>
            <a:r>
              <a:rPr lang="es-MX" dirty="0" smtClean="0"/>
              <a:t> y </a:t>
            </a:r>
            <a:r>
              <a:rPr lang="es-MX" dirty="0" err="1" smtClean="0"/>
              <a:t>rename</a:t>
            </a:r>
            <a:r>
              <a:rPr lang="es-MX" dirty="0" smtClean="0"/>
              <a:t> para poder cambiar el nombre de las diferentes clases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24558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0748" y="84317"/>
            <a:ext cx="985266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Paso 2: Creación del Contenedor Base y Sistema de Navegación Dinámica</a:t>
            </a:r>
            <a:endParaRPr kumimoji="0" lang="es-MX" altLang="es-MX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MX" altLang="es-MX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Diseño del Menú (</a:t>
            </a:r>
            <a:r>
              <a:rPr lang="es-MX" altLang="es-MX" sz="1050" b="1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kumimoji="0" lang="es-MX" altLang="es-MX" sz="105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ain-view.fxml</a:t>
            </a:r>
            <a:r>
              <a:rPr kumimoji="0" lang="es-MX" altLang="es-MX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kumimoji="0" lang="es-MX" altLang="es-MX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 utilizó un contenedor raíz </a:t>
            </a:r>
            <a:r>
              <a:rPr kumimoji="0" lang="es-MX" altLang="es-MX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HBox</a:t>
            </a:r>
            <a:r>
              <a:rPr kumimoji="0" lang="es-MX" altLang="es-MX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 la izquierda se ubicó un </a:t>
            </a:r>
            <a:r>
              <a:rPr kumimoji="0" lang="es-MX" altLang="es-MX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VBox</a:t>
            </a:r>
            <a:r>
              <a:rPr kumimoji="0" lang="es-MX" altLang="es-MX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kumimoji="0" lang="es-MX" altLang="es-MX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cuatro botones</a:t>
            </a:r>
            <a:r>
              <a:rPr kumimoji="0" lang="es-MX" altLang="es-MX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s-MX" altLang="es-MX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Button</a:t>
            </a:r>
            <a:r>
              <a:rPr kumimoji="0" lang="es-MX" altLang="es-MX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 A la derecha se reservó un espacio vacío mediante un </a:t>
            </a:r>
            <a:r>
              <a:rPr kumimoji="0" lang="es-MX" altLang="es-MX" sz="105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StackPane</a:t>
            </a:r>
            <a:r>
              <a:rPr kumimoji="0" lang="es-MX" altLang="es-MX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(identificado como </a:t>
            </a:r>
            <a:r>
              <a:rPr kumimoji="0" lang="es-MX" altLang="es-MX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areaContenido</a:t>
            </a:r>
            <a:r>
              <a:rPr kumimoji="0" lang="es-MX" altLang="es-MX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MX" altLang="es-MX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Lógica de Intercambio (</a:t>
            </a:r>
            <a:r>
              <a:rPr kumimoji="0" lang="es-MX" altLang="es-MX" sz="105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MainController.java</a:t>
            </a:r>
            <a:r>
              <a:rPr kumimoji="0" lang="es-MX" altLang="es-MX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kumimoji="0" lang="es-MX" altLang="es-MX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 programó un </a:t>
            </a:r>
            <a:r>
              <a:rPr kumimoji="0" lang="es-MX" altLang="es-MX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metodo</a:t>
            </a:r>
            <a:r>
              <a:rPr kumimoji="0" lang="es-MX" altLang="es-MX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genérico (</a:t>
            </a:r>
            <a:r>
              <a:rPr kumimoji="0" lang="es-MX" altLang="es-MX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cambiarVista</a:t>
            </a:r>
            <a:r>
              <a:rPr kumimoji="0" lang="es-MX" altLang="es-MX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que implementa la función </a:t>
            </a:r>
            <a:r>
              <a:rPr kumimoji="0" lang="es-MX" altLang="es-MX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FXMLLoader.load</a:t>
            </a:r>
            <a:r>
              <a:rPr kumimoji="0" lang="es-MX" altLang="es-MX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s-MX" altLang="es-MX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getClass</a:t>
            </a:r>
            <a:r>
              <a:rPr kumimoji="0" lang="es-MX" altLang="es-MX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  <a:r>
              <a:rPr kumimoji="0" lang="es-MX" altLang="es-MX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getResource</a:t>
            </a:r>
            <a:r>
              <a:rPr kumimoji="0" lang="es-MX" altLang="es-MX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s-MX" altLang="es-MX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fxmlArchivo</a:t>
            </a:r>
            <a:r>
              <a:rPr kumimoji="0" lang="es-MX" altLang="es-MX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  <a:r>
              <a:rPr kumimoji="0" lang="es-MX" altLang="es-MX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Cada vez que se presiona un botón del menú, este método limpia el contenido previo del </a:t>
            </a:r>
            <a:r>
              <a:rPr kumimoji="0" lang="es-MX" altLang="es-MX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StackPane</a:t>
            </a:r>
            <a:r>
              <a:rPr kumimoji="0" lang="es-MX" altLang="es-MX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mediante </a:t>
            </a:r>
            <a:r>
              <a:rPr kumimoji="0" lang="es-MX" altLang="es-MX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es-MX" altLang="es-MX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getChildren</a:t>
            </a:r>
            <a:r>
              <a:rPr kumimoji="0" lang="es-MX" altLang="es-MX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  <a:r>
              <a:rPr kumimoji="0" lang="es-MX" altLang="es-MX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clear</a:t>
            </a:r>
            <a:r>
              <a:rPr kumimoji="0" lang="es-MX" altLang="es-MX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kumimoji="0" lang="es-MX" altLang="es-MX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inyecta la nueva vista FXML seleccionada de manera fluida y dentro de la misma ventana.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32184"/>
            <a:ext cx="4773503" cy="268509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013" y="2681653"/>
            <a:ext cx="4760309" cy="2677674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585438" y="1767254"/>
            <a:ext cx="46159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Dentro del </a:t>
            </a:r>
            <a:r>
              <a:rPr lang="es-MX" dirty="0" err="1" smtClean="0"/>
              <a:t>escene</a:t>
            </a:r>
            <a:r>
              <a:rPr lang="es-MX" dirty="0" smtClean="0"/>
              <a:t> </a:t>
            </a:r>
            <a:r>
              <a:rPr lang="es-MX" dirty="0" err="1" smtClean="0"/>
              <a:t>builder</a:t>
            </a:r>
            <a:r>
              <a:rPr lang="es-MX" dirty="0" smtClean="0"/>
              <a:t> abrir la opción </a:t>
            </a:r>
            <a:r>
              <a:rPr lang="es-MX" dirty="0" err="1" smtClean="0"/>
              <a:t>view</a:t>
            </a:r>
            <a:r>
              <a:rPr lang="es-MX" dirty="0" smtClean="0"/>
              <a:t> y show simple </a:t>
            </a:r>
            <a:r>
              <a:rPr lang="es-MX" dirty="0" err="1" smtClean="0"/>
              <a:t>skeleton</a:t>
            </a:r>
            <a:r>
              <a:rPr lang="es-MX" dirty="0" smtClean="0"/>
              <a:t> y copiar para hacer el </a:t>
            </a:r>
            <a:r>
              <a:rPr lang="es-MX" dirty="0" err="1" smtClean="0"/>
              <a:t>controller</a:t>
            </a:r>
            <a:endParaRPr lang="es-MX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503" y="5359327"/>
            <a:ext cx="5750626" cy="323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171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202221" y="329478"/>
            <a:ext cx="1041009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>
                <a:latin typeface="Google Sans"/>
              </a:rPr>
              <a:t>Paso 3: Desarrollo de los Módulos de Operación e Inferencia</a:t>
            </a:r>
          </a:p>
          <a:p>
            <a:r>
              <a:rPr lang="es-MX" dirty="0">
                <a:latin typeface="Google Sans"/>
              </a:rPr>
              <a:t>Para cada pantalla secundaria se diseñó su interfaz en FXML y se codificaron sus algoritmos específicos en sus controladores: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Google Sans"/>
              </a:rPr>
              <a:t>Pantalla 1 (Líneas de Espera):</a:t>
            </a:r>
            <a:r>
              <a:rPr lang="es-MX" dirty="0">
                <a:latin typeface="Google Sans"/>
              </a:rPr>
              <a:t> Implementación matemática de las ecuaciones de un </a:t>
            </a:r>
            <a:r>
              <a:rPr lang="es-MX" b="1" dirty="0">
                <a:latin typeface="Google Sans"/>
              </a:rPr>
              <a:t>Modelo M/M/1</a:t>
            </a:r>
            <a:r>
              <a:rPr lang="es-MX" dirty="0">
                <a:latin typeface="Google Sans"/>
              </a:rPr>
              <a:t> (Teoría de Colas). El controlador procesa las tasas de llegada </a:t>
            </a:r>
            <a:r>
              <a:rPr lang="es-MX" dirty="0" smtClean="0">
                <a:latin typeface="Google Sans"/>
              </a:rPr>
              <a:t>(lambda ) </a:t>
            </a:r>
            <a:r>
              <a:rPr lang="es-MX" dirty="0">
                <a:latin typeface="Google Sans"/>
              </a:rPr>
              <a:t>y servicio </a:t>
            </a:r>
            <a:r>
              <a:rPr lang="es-MX" dirty="0" smtClean="0">
                <a:latin typeface="Google Sans"/>
              </a:rPr>
              <a:t>(mu) </a:t>
            </a:r>
            <a:r>
              <a:rPr lang="es-MX" dirty="0">
                <a:latin typeface="Google Sans"/>
              </a:rPr>
              <a:t>para proyectar métricas como tiempos promedio de espera y ocupación del sistema</a:t>
            </a:r>
            <a:r>
              <a:rPr lang="es-MX" dirty="0" smtClean="0">
                <a:latin typeface="Google Sans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 smtClean="0">
                <a:latin typeface="Google Sans"/>
              </a:rPr>
              <a:t>Copiar los elementos del repositorio de </a:t>
            </a:r>
            <a:r>
              <a:rPr lang="es-MX" dirty="0" err="1" smtClean="0">
                <a:latin typeface="Google Sans"/>
              </a:rPr>
              <a:t>git</a:t>
            </a:r>
            <a:r>
              <a:rPr lang="es-MX" dirty="0" smtClean="0">
                <a:latin typeface="Google Sans"/>
              </a:rPr>
              <a:t> 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318" y="2495284"/>
            <a:ext cx="5317241" cy="299094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81" y="2495284"/>
            <a:ext cx="5337519" cy="300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099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67" y="3180530"/>
            <a:ext cx="5464129" cy="3073573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3180530"/>
            <a:ext cx="5486400" cy="3086100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161167" y="282801"/>
            <a:ext cx="839936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Google Sans"/>
              </a:rPr>
              <a:t>Pantalla 2 (Sistemas de Inventarios):</a:t>
            </a:r>
            <a:r>
              <a:rPr lang="es-MX" dirty="0">
                <a:latin typeface="Google Sans"/>
              </a:rPr>
              <a:t> Programación del </a:t>
            </a:r>
            <a:r>
              <a:rPr lang="es-MX" b="1" dirty="0">
                <a:latin typeface="Google Sans"/>
              </a:rPr>
              <a:t>Modelo EOQ (Cantidad Económica de Pedido)</a:t>
            </a:r>
            <a:r>
              <a:rPr lang="es-MX" dirty="0">
                <a:latin typeface="Google Sans"/>
              </a:rPr>
              <a:t> o Lote de Wilson. El sistema captura la demanda anual, costos de orden y almacenamiento para devolver la cantidad óptima de pedido minimizando costos totales</a:t>
            </a:r>
            <a:r>
              <a:rPr lang="es-MX" dirty="0" smtClean="0">
                <a:latin typeface="Google Sans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0" u="none" strike="noStrike" dirty="0" smtClean="0">
                <a:effectLst/>
                <a:latin typeface="Google Sans"/>
              </a:rPr>
              <a:t>Modelar la escena como se muestra y copiar el </a:t>
            </a:r>
            <a:r>
              <a:rPr lang="es-MX" b="0" u="none" strike="noStrike" dirty="0" err="1" smtClean="0">
                <a:effectLst/>
                <a:latin typeface="Google Sans"/>
              </a:rPr>
              <a:t>controller</a:t>
            </a:r>
            <a:r>
              <a:rPr lang="es-MX" b="0" u="none" strike="noStrike" dirty="0" smtClean="0">
                <a:effectLst/>
                <a:latin typeface="Google Sans"/>
              </a:rPr>
              <a:t> como se muestra en el repositorio </a:t>
            </a:r>
            <a:endParaRPr lang="es-MX" b="0" u="none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4032498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86" y="3882729"/>
            <a:ext cx="5289370" cy="297527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320" y="3476625"/>
            <a:ext cx="5442373" cy="3061335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304800" y="663416"/>
            <a:ext cx="8610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>
                <a:latin typeface="Google Sans"/>
              </a:rPr>
              <a:t>Pantalla 3 (Pruebas Paramétricas):</a:t>
            </a:r>
            <a:r>
              <a:rPr lang="es-MX" dirty="0"/>
              <a:t> Desarrollo de una </a:t>
            </a:r>
            <a:r>
              <a:rPr lang="es-MX" b="1" dirty="0">
                <a:latin typeface="Google Sans"/>
              </a:rPr>
              <a:t>Prueba t de </a:t>
            </a:r>
            <a:r>
              <a:rPr lang="es-MX" b="1" dirty="0" err="1">
                <a:latin typeface="Google Sans"/>
              </a:rPr>
              <a:t>Student</a:t>
            </a:r>
            <a:r>
              <a:rPr lang="es-MX" b="1" dirty="0">
                <a:latin typeface="Google Sans"/>
              </a:rPr>
              <a:t> para una sola muestra</a:t>
            </a:r>
            <a:r>
              <a:rPr lang="es-MX" dirty="0"/>
              <a:t>. Aplica una aproximación </a:t>
            </a:r>
            <a:r>
              <a:rPr lang="es-MX" dirty="0" err="1"/>
              <a:t>polinomial</a:t>
            </a:r>
            <a:r>
              <a:rPr lang="es-MX" dirty="0"/>
              <a:t> nativa para estimar el </a:t>
            </a:r>
            <a:r>
              <a:rPr lang="es-MX" i="1" dirty="0">
                <a:latin typeface="Google Sans"/>
              </a:rPr>
              <a:t>p-valor</a:t>
            </a:r>
            <a:r>
              <a:rPr lang="es-MX" dirty="0"/>
              <a:t> a dos colas y evalúa la significancia estadística </a:t>
            </a:r>
            <a:r>
              <a:rPr lang="es-MX" dirty="0" smtClean="0"/>
              <a:t>(</a:t>
            </a:r>
            <a:r>
              <a:rPr lang="es-MX" dirty="0" err="1" smtClean="0"/>
              <a:t>alpha</a:t>
            </a:r>
            <a:r>
              <a:rPr lang="es-MX" dirty="0" smtClean="0"/>
              <a:t>) </a:t>
            </a:r>
            <a:r>
              <a:rPr lang="es-MX" dirty="0"/>
              <a:t>para rechazar o no la hipótesis nula </a:t>
            </a:r>
            <a:r>
              <a:rPr lang="es-MX" dirty="0" smtClean="0"/>
              <a:t>(h0).</a:t>
            </a:r>
          </a:p>
          <a:p>
            <a:r>
              <a:rPr lang="es-MX" dirty="0">
                <a:latin typeface="Google Sans"/>
              </a:rPr>
              <a:t>Modelar la escena como se muestra y copiar el </a:t>
            </a:r>
            <a:r>
              <a:rPr lang="es-MX" dirty="0" err="1">
                <a:latin typeface="Google Sans"/>
              </a:rPr>
              <a:t>controller</a:t>
            </a:r>
            <a:r>
              <a:rPr lang="es-MX" dirty="0">
                <a:latin typeface="Google Sans"/>
              </a:rPr>
              <a:t> como se muestra en el repositorio 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6995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" y="3373168"/>
            <a:ext cx="5242560" cy="294894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920" y="3373168"/>
            <a:ext cx="5135880" cy="2888933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167640" y="296317"/>
            <a:ext cx="93878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>
                <a:latin typeface="Google Sans"/>
              </a:rPr>
              <a:t>Pantalla 4 (Pruebas No Paramétricas):</a:t>
            </a:r>
            <a:r>
              <a:rPr lang="es-MX" dirty="0"/>
              <a:t> Implementación de la </a:t>
            </a:r>
            <a:r>
              <a:rPr lang="es-MX" b="1" dirty="0">
                <a:latin typeface="Google Sans"/>
              </a:rPr>
              <a:t>Prueba de Chi-Cuadrada de Bondad de Ajuste</a:t>
            </a:r>
            <a:r>
              <a:rPr lang="es-MX" dirty="0"/>
              <a:t>. Evalúa si frecuencias observadas en tres categorías se ajustan a una distribución uniforme a través de la función de supervivencia exacta para 2 grados de libertad</a:t>
            </a:r>
            <a:r>
              <a:rPr lang="es-MX" dirty="0" smtClean="0"/>
              <a:t>.</a:t>
            </a:r>
          </a:p>
          <a:p>
            <a:r>
              <a:rPr lang="es-MX" dirty="0">
                <a:latin typeface="Google Sans"/>
              </a:rPr>
              <a:t>Modelar la escena como se muestra y copiar el </a:t>
            </a:r>
            <a:r>
              <a:rPr lang="es-MX" dirty="0" err="1">
                <a:latin typeface="Google Sans"/>
              </a:rPr>
              <a:t>controller</a:t>
            </a:r>
            <a:r>
              <a:rPr lang="es-MX" dirty="0">
                <a:latin typeface="Google Sans"/>
              </a:rPr>
              <a:t> como se muestra en el repositorio </a:t>
            </a:r>
          </a:p>
        </p:txBody>
      </p:sp>
    </p:spTree>
    <p:extLst>
      <p:ext uri="{BB962C8B-B14F-4D97-AF65-F5344CB8AC3E}">
        <p14:creationId xmlns:p14="http://schemas.microsoft.com/office/powerpoint/2010/main" val="2470348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Python</a:t>
            </a:r>
            <a:endParaRPr lang="es-MX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9071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6" y="2385385"/>
            <a:ext cx="4705601" cy="264690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008" y="2268620"/>
            <a:ext cx="4913183" cy="2763665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61546" y="1068292"/>
            <a:ext cx="58468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MX" dirty="0" smtClean="0"/>
              <a:t>Crear el proyecto</a:t>
            </a:r>
          </a:p>
          <a:p>
            <a:r>
              <a:rPr lang="es-MX" dirty="0" smtClean="0"/>
              <a:t>Abrir la carpeta donde guardar el proyecto </a:t>
            </a:r>
            <a:endParaRPr lang="es-MX" dirty="0"/>
          </a:p>
          <a:p>
            <a:r>
              <a:rPr lang="es-MX" dirty="0" smtClean="0"/>
              <a:t>crear una nueva carpeta y nombrarla 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29104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62" y="3037960"/>
            <a:ext cx="5405675" cy="3040692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668215" y="712177"/>
            <a:ext cx="7007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Dentro de la carpeta abrir en terminal y dentro de la terminal escribir “</a:t>
            </a:r>
            <a:r>
              <a:rPr lang="es-MX" dirty="0" err="1" smtClean="0"/>
              <a:t>code</a:t>
            </a:r>
            <a:r>
              <a:rPr lang="es-MX" dirty="0" smtClean="0"/>
              <a:t> .” y pulsar </a:t>
            </a:r>
            <a:r>
              <a:rPr lang="es-MX" dirty="0" err="1" smtClean="0"/>
              <a:t>enter</a:t>
            </a:r>
            <a:r>
              <a:rPr lang="es-MX" dirty="0" smtClean="0"/>
              <a:t> </a:t>
            </a:r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987" y="2867183"/>
            <a:ext cx="6049930" cy="340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218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68" y="2268522"/>
            <a:ext cx="5662832" cy="3185342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653" y="2145429"/>
            <a:ext cx="6081347" cy="3420758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1066800" y="182880"/>
            <a:ext cx="5883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2. Organizar el proyecto </a:t>
            </a:r>
            <a:endParaRPr lang="es-MX" dirty="0"/>
          </a:p>
        </p:txBody>
      </p:sp>
      <p:sp>
        <p:nvSpPr>
          <p:cNvPr id="15" name="CuadroTexto 14"/>
          <p:cNvSpPr txBox="1"/>
          <p:nvPr/>
        </p:nvSpPr>
        <p:spPr>
          <a:xfrm>
            <a:off x="289559" y="990600"/>
            <a:ext cx="6076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2.1 crear un nuevo archivo</a:t>
            </a:r>
          </a:p>
          <a:p>
            <a:r>
              <a:rPr lang="es-MX" dirty="0" smtClean="0"/>
              <a:t>En el explorador pulsar el botón de crear nuevo archivo ponerle un nombre sin espacios y terminando con “.</a:t>
            </a:r>
            <a:r>
              <a:rPr lang="es-MX" dirty="0" err="1" smtClean="0"/>
              <a:t>py</a:t>
            </a:r>
            <a:r>
              <a:rPr lang="es-MX" dirty="0" smtClean="0"/>
              <a:t>”</a:t>
            </a:r>
            <a:endParaRPr lang="es-MX" dirty="0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128" b="80525"/>
          <a:stretch/>
        </p:blipFill>
        <p:spPr>
          <a:xfrm>
            <a:off x="7033845" y="444209"/>
            <a:ext cx="2829188" cy="135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06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69" y="1546388"/>
            <a:ext cx="7178966" cy="4038168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149469" y="641838"/>
            <a:ext cx="7130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2.2 repetir el proceso para crear 5 archivos, uno para el menú y 4 uno por cada ejemplo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9529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2692716"/>
            <a:ext cx="6903720" cy="3883343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243840" y="274320"/>
            <a:ext cx="603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3.Programar las funciones </a:t>
            </a: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426720" y="1158240"/>
            <a:ext cx="7376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3.1 Usando la función </a:t>
            </a:r>
            <a:r>
              <a:rPr lang="es-MX" dirty="0" err="1" smtClean="0"/>
              <a:t>tinkerer</a:t>
            </a:r>
            <a:r>
              <a:rPr lang="es-MX" dirty="0" smtClean="0"/>
              <a:t> como se muestra a continuación y como viene en el repositorio </a:t>
            </a:r>
            <a:r>
              <a:rPr lang="es-MX" dirty="0" err="1" smtClean="0"/>
              <a:t>git</a:t>
            </a:r>
            <a:r>
              <a:rPr lang="es-MX" dirty="0" smtClean="0"/>
              <a:t> generamos la pantalla de menú para dirigirse a los otros </a:t>
            </a:r>
            <a:r>
              <a:rPr lang="es-MX" dirty="0" err="1" smtClean="0"/>
              <a:t>metodos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95258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74562" y="428263"/>
            <a:ext cx="9907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3.2 Importando la función </a:t>
            </a:r>
            <a:r>
              <a:rPr lang="es-MX" dirty="0" err="1" smtClean="0"/>
              <a:t>tinkerer</a:t>
            </a:r>
            <a:r>
              <a:rPr lang="es-MX" dirty="0" smtClean="0"/>
              <a:t> hacemos las diferentes pantallas y lógica interna de cada uno de los problemas a representar</a:t>
            </a:r>
            <a:endParaRPr lang="es-MX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44" y="1365812"/>
            <a:ext cx="5514693" cy="310201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337" y="1365812"/>
            <a:ext cx="6276940" cy="353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432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69" y="2042746"/>
            <a:ext cx="4290646" cy="241348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865" y="1793631"/>
            <a:ext cx="4777803" cy="268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49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Lenguaje R</a:t>
            </a:r>
            <a:endParaRPr lang="es-MX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1619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05357"/>
            <a:ext cx="5445846" cy="3063288"/>
          </a:xfrm>
          <a:prstGeom prst="rect">
            <a:avLst/>
          </a:prstGeom>
        </p:spPr>
      </p:pic>
      <p:pic>
        <p:nvPicPr>
          <p:cNvPr id="22" name="Imagen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628" y="2529841"/>
            <a:ext cx="5003235" cy="2814320"/>
          </a:xfrm>
          <a:prstGeom prst="rect">
            <a:avLst/>
          </a:prstGeom>
        </p:spPr>
      </p:pic>
      <p:sp>
        <p:nvSpPr>
          <p:cNvPr id="30" name="CuadroTexto 29"/>
          <p:cNvSpPr txBox="1"/>
          <p:nvPr/>
        </p:nvSpPr>
        <p:spPr>
          <a:xfrm>
            <a:off x="599440" y="680720"/>
            <a:ext cx="341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1. Crear nuevo proyecto </a:t>
            </a:r>
            <a:endParaRPr lang="es-MX" dirty="0"/>
          </a:p>
        </p:txBody>
      </p:sp>
      <p:sp>
        <p:nvSpPr>
          <p:cNvPr id="31" name="CuadroTexto 30"/>
          <p:cNvSpPr txBox="1"/>
          <p:nvPr/>
        </p:nvSpPr>
        <p:spPr>
          <a:xfrm>
            <a:off x="650240" y="1412240"/>
            <a:ext cx="5516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En la esquina superior de la pantalla seleccionar la opción new </a:t>
            </a:r>
            <a:r>
              <a:rPr lang="es-MX" dirty="0" err="1" smtClean="0"/>
              <a:t>proyect</a:t>
            </a:r>
            <a:r>
              <a:rPr lang="es-MX" dirty="0" smtClean="0"/>
              <a:t> y después new </a:t>
            </a:r>
            <a:r>
              <a:rPr lang="es-MX" dirty="0" err="1" smtClean="0"/>
              <a:t>directory</a:t>
            </a:r>
            <a:endParaRPr lang="es-MX" dirty="0"/>
          </a:p>
        </p:txBody>
      </p:sp>
      <p:pic>
        <p:nvPicPr>
          <p:cNvPr id="32" name="Imagen 3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545" b="85655"/>
          <a:stretch/>
        </p:blipFill>
        <p:spPr>
          <a:xfrm>
            <a:off x="6949440" y="680721"/>
            <a:ext cx="3972618" cy="149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538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32" y="3281680"/>
            <a:ext cx="4678115" cy="2631440"/>
          </a:xfrm>
          <a:prstGeom prst="rect">
            <a:avLst/>
          </a:prstGeom>
        </p:spPr>
      </p:pic>
      <p:pic>
        <p:nvPicPr>
          <p:cNvPr id="25" name="Imagen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540" y="3281679"/>
            <a:ext cx="4794060" cy="2696659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944880" y="853440"/>
            <a:ext cx="5913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1.2 Seleccionar new </a:t>
            </a:r>
            <a:r>
              <a:rPr lang="es-MX" dirty="0" err="1" smtClean="0"/>
              <a:t>proyect</a:t>
            </a:r>
            <a:r>
              <a:rPr lang="es-MX" dirty="0" smtClean="0"/>
              <a:t> y después nombrar la carpeta y seleccionar donde se guardar a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73191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29" y="1775236"/>
            <a:ext cx="4958630" cy="2789229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802640" y="599440"/>
            <a:ext cx="5394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Crear nuevo archivo seleccionando en </a:t>
            </a:r>
            <a:r>
              <a:rPr lang="es-MX" dirty="0" err="1" smtClean="0"/>
              <a:t>edit</a:t>
            </a:r>
            <a:r>
              <a:rPr lang="es-MX" dirty="0" smtClean="0"/>
              <a:t> y luego “new file”</a:t>
            </a:r>
            <a:endParaRPr lang="es-MX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721" b="78045"/>
          <a:stretch/>
        </p:blipFill>
        <p:spPr>
          <a:xfrm>
            <a:off x="7468868" y="599440"/>
            <a:ext cx="2895331" cy="176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01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" y="1576705"/>
            <a:ext cx="5577840" cy="313753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496" y="1466088"/>
            <a:ext cx="5774492" cy="3248152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213360" y="264160"/>
            <a:ext cx="7254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3. Escribir el código tal como se muestra a continuación o como esta en el repositorio de </a:t>
            </a:r>
            <a:r>
              <a:rPr lang="es-MX" dirty="0" err="1" smtClean="0"/>
              <a:t>git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96941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conclusión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La </a:t>
            </a:r>
            <a:r>
              <a:rPr lang="es-MX" dirty="0"/>
              <a:t>realización de esta práctica permitió comprobar con éxito que </a:t>
            </a:r>
            <a:r>
              <a:rPr lang="es-MX" b="1" dirty="0"/>
              <a:t>la combinación de </a:t>
            </a:r>
            <a:r>
              <a:rPr lang="es-MX" b="1" dirty="0" err="1"/>
              <a:t>JavaFX</a:t>
            </a:r>
            <a:r>
              <a:rPr lang="es-MX" b="1" dirty="0"/>
              <a:t>, Python y R constituye un ecosistema integral y altamente eficiente</a:t>
            </a:r>
            <a:r>
              <a:rPr lang="es-MX" dirty="0"/>
              <a:t> para el diseño de software de simulación.</a:t>
            </a:r>
          </a:p>
          <a:p>
            <a:r>
              <a:rPr lang="es-MX" dirty="0"/>
              <a:t>Se demostró que la separación de responsabilidades —donde </a:t>
            </a:r>
            <a:r>
              <a:rPr lang="es-MX" dirty="0" err="1"/>
              <a:t>JavaFX</a:t>
            </a:r>
            <a:r>
              <a:rPr lang="es-MX" dirty="0"/>
              <a:t> gestiona la experiencia del usuario, </a:t>
            </a:r>
            <a:r>
              <a:rPr lang="es-MX" b="1" dirty="0"/>
              <a:t>Python</a:t>
            </a:r>
            <a:r>
              <a:rPr lang="es-MX" dirty="0"/>
              <a:t> controla el flujo operativo y </a:t>
            </a:r>
            <a:r>
              <a:rPr lang="es-MX" b="1" dirty="0"/>
              <a:t>R</a:t>
            </a:r>
            <a:r>
              <a:rPr lang="es-MX" dirty="0"/>
              <a:t> ejecuta los modelos estadísticos complejos— reduce la complejidad del código y facilita el mantenimiento del sistema.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6090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git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hlinkClick r:id="rId2"/>
              </a:rPr>
              <a:t>https://</a:t>
            </a:r>
            <a:r>
              <a:rPr lang="es-MX" dirty="0" smtClean="0">
                <a:hlinkClick r:id="rId2"/>
              </a:rPr>
              <a:t>github.com/hectoranzueto4-byte/Actividad_4_javafx</a:t>
            </a:r>
            <a:r>
              <a:rPr lang="es-MX" dirty="0" smtClean="0"/>
              <a:t> </a:t>
            </a:r>
          </a:p>
          <a:p>
            <a:r>
              <a:rPr lang="es-MX" dirty="0">
                <a:hlinkClick r:id="rId3"/>
              </a:rPr>
              <a:t>https://</a:t>
            </a:r>
            <a:r>
              <a:rPr lang="es-MX" dirty="0" smtClean="0">
                <a:hlinkClick r:id="rId3"/>
              </a:rPr>
              <a:t>github.com/hectoranzueto4-byte/Actividad_4_python</a:t>
            </a:r>
            <a:r>
              <a:rPr lang="es-MX" dirty="0" smtClean="0"/>
              <a:t> </a:t>
            </a:r>
          </a:p>
          <a:p>
            <a:r>
              <a:rPr lang="es-MX" dirty="0">
                <a:hlinkClick r:id="rId4"/>
              </a:rPr>
              <a:t>https://</a:t>
            </a:r>
            <a:r>
              <a:rPr lang="es-MX" dirty="0" smtClean="0">
                <a:hlinkClick r:id="rId4"/>
              </a:rPr>
              <a:t>github.com/hectoranzueto4-byte/Actividad_4_LenguajeR</a:t>
            </a:r>
            <a:endParaRPr lang="es-MX" dirty="0" smtClean="0"/>
          </a:p>
          <a:p>
            <a:r>
              <a:rPr lang="es-MX">
                <a:hlinkClick r:id="rId5"/>
              </a:rPr>
              <a:t>https</a:t>
            </a:r>
            <a:r>
              <a:rPr lang="es-MX">
                <a:hlinkClick r:id="rId5"/>
              </a:rPr>
              <a:t>://</a:t>
            </a:r>
            <a:r>
              <a:rPr lang="es-MX" smtClean="0">
                <a:hlinkClick r:id="rId5"/>
              </a:rPr>
              <a:t>github.com/hectoranzueto4-byte/SIM-Tema-4_Hector-Yazid-Anzueto-Lopez</a:t>
            </a:r>
            <a:r>
              <a:rPr lang="es-MX" smtClean="0"/>
              <a:t> 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127209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371</TotalTime>
  <Words>1001</Words>
  <Application>Microsoft Office PowerPoint</Application>
  <PresentationFormat>Panorámica</PresentationFormat>
  <Paragraphs>67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2" baseType="lpstr">
      <vt:lpstr>Arial</vt:lpstr>
      <vt:lpstr>Calibri</vt:lpstr>
      <vt:lpstr>Google Sans</vt:lpstr>
      <vt:lpstr>Trebuchet MS</vt:lpstr>
      <vt:lpstr>Wingdings 3</vt:lpstr>
      <vt:lpstr>Faceta</vt:lpstr>
      <vt:lpstr>Presentación de PowerPoint</vt:lpstr>
      <vt:lpstr>Introducción </vt:lpstr>
      <vt:lpstr>Justificación </vt:lpstr>
      <vt:lpstr>Javafx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Python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Lenguaje R</vt:lpstr>
      <vt:lpstr>Presentación de PowerPoint</vt:lpstr>
      <vt:lpstr>Presentación de PowerPoint</vt:lpstr>
      <vt:lpstr>Presentación de PowerPoint</vt:lpstr>
      <vt:lpstr>Presentación de PowerPoint</vt:lpstr>
      <vt:lpstr>conclusión</vt:lpstr>
      <vt:lpstr>git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 AMD</dc:creator>
  <cp:lastModifiedBy>HP AMD</cp:lastModifiedBy>
  <cp:revision>16</cp:revision>
  <dcterms:created xsi:type="dcterms:W3CDTF">2026-10-03T18:43:06Z</dcterms:created>
  <dcterms:modified xsi:type="dcterms:W3CDTF">2026-10-04T04:05:29Z</dcterms:modified>
</cp:coreProperties>
</file>