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59" r:id="rId4"/>
    <p:sldId id="262" r:id="rId5"/>
    <p:sldId id="263" r:id="rId6"/>
    <p:sldId id="261" r:id="rId7"/>
    <p:sldId id="260"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1330" y="50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907323" y="2056686"/>
            <a:ext cx="6096000" cy="4801314"/>
          </a:xfrm>
          <a:prstGeom prst="rect">
            <a:avLst/>
          </a:prstGeom>
        </p:spPr>
        <p:txBody>
          <a:bodyPr>
            <a:spAutoFit/>
          </a:bodyPr>
          <a:lstStyle/>
          <a:p>
            <a:pPr lvl="0" algn="ctr" defTabSz="914400" eaLnBrk="0" fontAlgn="base" hangingPunct="0">
              <a:spcBef>
                <a:spcPct val="0"/>
              </a:spcBef>
              <a:spcAft>
                <a:spcPct val="0"/>
              </a:spcAft>
              <a:defRPr/>
            </a:pPr>
            <a:r>
              <a:rPr lang="es-ES" altLang="es-MX" b="1" kern="0" dirty="0">
                <a:solidFill>
                  <a:prstClr val="black"/>
                </a:solidFill>
                <a:latin typeface="Arial" panose="020B0604020202020204" pitchFamily="34" charset="0"/>
                <a:ea typeface="Calibri" panose="020F0502020204030204" pitchFamily="34" charset="0"/>
                <a:cs typeface="Arial" panose="020B0604020202020204" pitchFamily="34" charset="0"/>
              </a:rPr>
              <a:t>Instituto Tecnológico de Frontera Comalapa Modalidad Mixta</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b="1" kern="0" dirty="0">
                <a:solidFill>
                  <a:prstClr val="black"/>
                </a:solidFill>
                <a:latin typeface="Arial" panose="020B0604020202020204" pitchFamily="34" charset="0"/>
                <a:ea typeface="Calibri" panose="020F0502020204030204" pitchFamily="34" charset="0"/>
                <a:cs typeface="Arial" panose="020B0604020202020204" pitchFamily="34" charset="0"/>
              </a:rPr>
              <a:t>Materia:</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kern="0" dirty="0" err="1">
                <a:solidFill>
                  <a:prstClr val="black"/>
                </a:solidFill>
                <a:latin typeface="Arial" panose="020B0604020202020204" pitchFamily="34" charset="0"/>
                <a:ea typeface="Calibri" panose="020F0502020204030204" pitchFamily="34" charset="0"/>
                <a:cs typeface="Arial" panose="020B0604020202020204" pitchFamily="34" charset="0"/>
              </a:rPr>
              <a:t>Simulacion</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b="1" kern="0" dirty="0">
                <a:solidFill>
                  <a:prstClr val="black"/>
                </a:solidFill>
                <a:latin typeface="Arial" panose="020B0604020202020204" pitchFamily="34" charset="0"/>
                <a:ea typeface="Calibri" panose="020F0502020204030204" pitchFamily="34" charset="0"/>
                <a:cs typeface="Arial" panose="020B0604020202020204" pitchFamily="34" charset="0"/>
              </a:rPr>
              <a:t>Semestre: </a:t>
            </a:r>
            <a:r>
              <a:rPr lang="es-ES" altLang="es-MX" kern="0" dirty="0">
                <a:solidFill>
                  <a:prstClr val="black"/>
                </a:solidFill>
                <a:latin typeface="Arial" panose="020B0604020202020204" pitchFamily="34" charset="0"/>
                <a:ea typeface="Calibri" panose="020F0502020204030204" pitchFamily="34" charset="0"/>
                <a:cs typeface="Arial" panose="020B0604020202020204" pitchFamily="34" charset="0"/>
              </a:rPr>
              <a:t>Quinto</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kern="0" dirty="0">
                <a:solidFill>
                  <a:prstClr val="black"/>
                </a:solidFill>
                <a:latin typeface="Arial" panose="020B0604020202020204" pitchFamily="34" charset="0"/>
                <a:ea typeface="Calibri" panose="020F0502020204030204" pitchFamily="34" charset="0"/>
                <a:cs typeface="Arial" panose="020B0604020202020204" pitchFamily="34" charset="0"/>
              </a:rPr>
              <a:t> </a:t>
            </a:r>
            <a:r>
              <a:rPr lang="es-ES" altLang="es-MX" b="1" kern="0" dirty="0">
                <a:solidFill>
                  <a:prstClr val="black"/>
                </a:solidFill>
                <a:latin typeface="Arial" panose="020B0604020202020204" pitchFamily="34" charset="0"/>
                <a:ea typeface="Calibri" panose="020F0502020204030204" pitchFamily="34" charset="0"/>
                <a:cs typeface="Arial" panose="020B0604020202020204" pitchFamily="34" charset="0"/>
              </a:rPr>
              <a:t>Carrera:</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kern="0" dirty="0">
                <a:solidFill>
                  <a:prstClr val="black"/>
                </a:solidFill>
                <a:latin typeface="Arial" panose="020B0604020202020204" pitchFamily="34" charset="0"/>
                <a:ea typeface="Calibri" panose="020F0502020204030204" pitchFamily="34" charset="0"/>
                <a:cs typeface="Arial" panose="020B0604020202020204" pitchFamily="34" charset="0"/>
              </a:rPr>
              <a:t>Ingeniería en sistemas computacionales</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b="1" kern="0" dirty="0">
                <a:solidFill>
                  <a:prstClr val="black"/>
                </a:solidFill>
                <a:latin typeface="Arial" panose="020B0604020202020204" pitchFamily="34" charset="0"/>
                <a:ea typeface="Calibri" panose="020F0502020204030204" pitchFamily="34" charset="0"/>
                <a:cs typeface="Arial" panose="020B0604020202020204" pitchFamily="34" charset="0"/>
              </a:rPr>
              <a:t>Numero de control:</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kern="0" dirty="0">
                <a:solidFill>
                  <a:prstClr val="black"/>
                </a:solidFill>
                <a:latin typeface="Arial" panose="020B0604020202020204" pitchFamily="34" charset="0"/>
                <a:ea typeface="Calibri" panose="020F0502020204030204" pitchFamily="34" charset="0"/>
                <a:cs typeface="Arial" panose="020B0604020202020204" pitchFamily="34" charset="0"/>
              </a:rPr>
              <a:t>241260005</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b="1" kern="0" dirty="0">
                <a:solidFill>
                  <a:prstClr val="black"/>
                </a:solidFill>
                <a:latin typeface="Arial" panose="020B0604020202020204" pitchFamily="34" charset="0"/>
                <a:ea typeface="Calibri" panose="020F0502020204030204" pitchFamily="34" charset="0"/>
                <a:cs typeface="Arial" panose="020B0604020202020204" pitchFamily="34" charset="0"/>
              </a:rPr>
              <a:t>Nombre del alumno:</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b="1" kern="0" dirty="0">
                <a:solidFill>
                  <a:prstClr val="black"/>
                </a:solidFill>
                <a:latin typeface="Arial" panose="020B0604020202020204" pitchFamily="34" charset="0"/>
                <a:ea typeface="Calibri" panose="020F0502020204030204" pitchFamily="34" charset="0"/>
                <a:cs typeface="Arial" panose="020B0604020202020204" pitchFamily="34" charset="0"/>
              </a:rPr>
              <a:t> </a:t>
            </a:r>
            <a:r>
              <a:rPr lang="es-ES" altLang="es-MX" kern="0" dirty="0" err="1">
                <a:solidFill>
                  <a:prstClr val="black"/>
                </a:solidFill>
                <a:latin typeface="Arial" panose="020B0604020202020204" pitchFamily="34" charset="0"/>
                <a:ea typeface="Calibri" panose="020F0502020204030204" pitchFamily="34" charset="0"/>
                <a:cs typeface="Arial" panose="020B0604020202020204" pitchFamily="34" charset="0"/>
              </a:rPr>
              <a:t>Hector</a:t>
            </a:r>
            <a:r>
              <a:rPr lang="es-ES" altLang="es-MX" kern="0" dirty="0">
                <a:solidFill>
                  <a:prstClr val="black"/>
                </a:solidFill>
                <a:latin typeface="Arial" panose="020B0604020202020204" pitchFamily="34" charset="0"/>
                <a:ea typeface="Calibri" panose="020F0502020204030204" pitchFamily="34" charset="0"/>
                <a:cs typeface="Arial" panose="020B0604020202020204" pitchFamily="34" charset="0"/>
              </a:rPr>
              <a:t> </a:t>
            </a:r>
            <a:r>
              <a:rPr lang="es-ES" altLang="es-MX" kern="0" dirty="0" err="1">
                <a:solidFill>
                  <a:prstClr val="black"/>
                </a:solidFill>
                <a:latin typeface="Arial" panose="020B0604020202020204" pitchFamily="34" charset="0"/>
                <a:ea typeface="Calibri" panose="020F0502020204030204" pitchFamily="34" charset="0"/>
                <a:cs typeface="Arial" panose="020B0604020202020204" pitchFamily="34" charset="0"/>
              </a:rPr>
              <a:t>Yazid</a:t>
            </a:r>
            <a:r>
              <a:rPr lang="es-ES" altLang="es-MX" kern="0" dirty="0">
                <a:solidFill>
                  <a:prstClr val="black"/>
                </a:solidFill>
                <a:latin typeface="Arial" panose="020B0604020202020204" pitchFamily="34" charset="0"/>
                <a:ea typeface="Calibri" panose="020F0502020204030204" pitchFamily="34" charset="0"/>
                <a:cs typeface="Arial" panose="020B0604020202020204" pitchFamily="34" charset="0"/>
              </a:rPr>
              <a:t> </a:t>
            </a:r>
            <a:r>
              <a:rPr lang="es-ES" altLang="es-MX" kern="0" dirty="0" err="1">
                <a:solidFill>
                  <a:prstClr val="black"/>
                </a:solidFill>
                <a:latin typeface="Arial" panose="020B0604020202020204" pitchFamily="34" charset="0"/>
                <a:ea typeface="Calibri" panose="020F0502020204030204" pitchFamily="34" charset="0"/>
                <a:cs typeface="Arial" panose="020B0604020202020204" pitchFamily="34" charset="0"/>
              </a:rPr>
              <a:t>Anzueto</a:t>
            </a:r>
            <a:r>
              <a:rPr lang="es-ES" altLang="es-MX" kern="0" dirty="0">
                <a:solidFill>
                  <a:prstClr val="black"/>
                </a:solidFill>
                <a:latin typeface="Arial" panose="020B0604020202020204" pitchFamily="34" charset="0"/>
                <a:ea typeface="Calibri" panose="020F0502020204030204" pitchFamily="34" charset="0"/>
                <a:cs typeface="Arial" panose="020B0604020202020204" pitchFamily="34" charset="0"/>
              </a:rPr>
              <a:t> </a:t>
            </a:r>
            <a:r>
              <a:rPr lang="es-ES" altLang="es-MX" kern="0" dirty="0" err="1">
                <a:solidFill>
                  <a:prstClr val="black"/>
                </a:solidFill>
                <a:latin typeface="Arial" panose="020B0604020202020204" pitchFamily="34" charset="0"/>
                <a:ea typeface="Calibri" panose="020F0502020204030204" pitchFamily="34" charset="0"/>
                <a:cs typeface="Arial" panose="020B0604020202020204" pitchFamily="34" charset="0"/>
              </a:rPr>
              <a:t>Lopez</a:t>
            </a:r>
            <a:r>
              <a:rPr lang="es-ES" altLang="es-MX" kern="0" dirty="0">
                <a:solidFill>
                  <a:prstClr val="black"/>
                </a:solidFill>
                <a:latin typeface="Arial" panose="020B0604020202020204" pitchFamily="34" charset="0"/>
                <a:ea typeface="Calibri" panose="020F0502020204030204" pitchFamily="34" charset="0"/>
                <a:cs typeface="Arial" panose="020B0604020202020204" pitchFamily="34" charset="0"/>
              </a:rPr>
              <a:t> </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b="1" kern="0" dirty="0">
                <a:solidFill>
                  <a:prstClr val="black"/>
                </a:solidFill>
                <a:latin typeface="Arial" panose="020B0604020202020204" pitchFamily="34" charset="0"/>
                <a:ea typeface="Calibri" panose="020F0502020204030204" pitchFamily="34" charset="0"/>
                <a:cs typeface="Arial" panose="020B0604020202020204" pitchFamily="34" charset="0"/>
              </a:rPr>
              <a:t>Nombre del docente:</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kern="0" dirty="0">
                <a:solidFill>
                  <a:prstClr val="black"/>
                </a:solidFill>
                <a:latin typeface="Arial" panose="020B0604020202020204" pitchFamily="34" charset="0"/>
                <a:ea typeface="Calibri" panose="020F0502020204030204" pitchFamily="34" charset="0"/>
                <a:cs typeface="Arial" panose="020B0604020202020204" pitchFamily="34" charset="0"/>
              </a:rPr>
              <a:t>Francisco Javier Velázquez Mingo</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b="1" kern="0" dirty="0">
                <a:solidFill>
                  <a:prstClr val="black"/>
                </a:solidFill>
                <a:latin typeface="Arial" panose="020B0604020202020204" pitchFamily="34" charset="0"/>
                <a:ea typeface="Calibri" panose="020F0502020204030204" pitchFamily="34" charset="0"/>
                <a:cs typeface="Arial" panose="020B0604020202020204" pitchFamily="34" charset="0"/>
              </a:rPr>
              <a:t>Nombre del trabajo:</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kern="0" dirty="0">
                <a:solidFill>
                  <a:prstClr val="black"/>
                </a:solidFill>
                <a:latin typeface="Arial" panose="020B0604020202020204" pitchFamily="34" charset="0"/>
                <a:ea typeface="Calibri" panose="020F0502020204030204" pitchFamily="34" charset="0"/>
                <a:cs typeface="Arial" panose="020B0604020202020204" pitchFamily="34" charset="0"/>
              </a:rPr>
              <a:t>Actividad </a:t>
            </a:r>
            <a:r>
              <a:rPr lang="es-ES" altLang="es-MX" kern="0" dirty="0" smtClean="0">
                <a:solidFill>
                  <a:prstClr val="black"/>
                </a:solidFill>
                <a:latin typeface="Arial" panose="020B0604020202020204" pitchFamily="34" charset="0"/>
                <a:ea typeface="Calibri" panose="020F0502020204030204" pitchFamily="34" charset="0"/>
                <a:cs typeface="Arial" panose="020B0604020202020204" pitchFamily="34" charset="0"/>
              </a:rPr>
              <a:t>4.3 banco de ejercicios</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b="1" kern="0" dirty="0">
                <a:solidFill>
                  <a:prstClr val="black"/>
                </a:solidFill>
                <a:latin typeface="Arial" panose="020B0604020202020204" pitchFamily="34" charset="0"/>
                <a:ea typeface="Calibri" panose="020F0502020204030204" pitchFamily="34" charset="0"/>
                <a:cs typeface="Arial" panose="020B0604020202020204" pitchFamily="34" charset="0"/>
              </a:rPr>
              <a:t>Fecha de entrega:</a:t>
            </a:r>
            <a:endParaRPr lang="es-MX" altLang="es-MX" sz="900" kern="0" dirty="0">
              <a:solidFill>
                <a:prstClr val="black"/>
              </a:solidFill>
            </a:endParaRPr>
          </a:p>
          <a:p>
            <a:pPr lvl="0" algn="ctr" defTabSz="914400" eaLnBrk="0" fontAlgn="base" hangingPunct="0">
              <a:spcBef>
                <a:spcPct val="0"/>
              </a:spcBef>
              <a:spcAft>
                <a:spcPct val="0"/>
              </a:spcAft>
              <a:defRPr/>
            </a:pPr>
            <a:r>
              <a:rPr lang="es-ES" altLang="es-MX" kern="0" dirty="0">
                <a:solidFill>
                  <a:prstClr val="black"/>
                </a:solidFill>
                <a:latin typeface="Arial" panose="020B0604020202020204" pitchFamily="34" charset="0"/>
                <a:ea typeface="Calibri" panose="020F0502020204030204" pitchFamily="34" charset="0"/>
                <a:cs typeface="Arial" panose="020B0604020202020204" pitchFamily="34" charset="0"/>
              </a:rPr>
              <a:t>Frontera Comalapa, Chiapas </a:t>
            </a:r>
            <a:r>
              <a:rPr lang="es-ES" altLang="es-MX" kern="0">
                <a:solidFill>
                  <a:prstClr val="black"/>
                </a:solidFill>
                <a:latin typeface="Arial" panose="020B0604020202020204" pitchFamily="34" charset="0"/>
                <a:ea typeface="Calibri" panose="020F0502020204030204" pitchFamily="34" charset="0"/>
                <a:cs typeface="Arial" panose="020B0604020202020204" pitchFamily="34" charset="0"/>
              </a:rPr>
              <a:t>a </a:t>
            </a:r>
            <a:r>
              <a:rPr lang="es-ES" altLang="es-MX" kern="0" smtClean="0">
                <a:solidFill>
                  <a:prstClr val="black"/>
                </a:solidFill>
                <a:latin typeface="Arial" panose="020B0604020202020204" pitchFamily="34" charset="0"/>
                <a:ea typeface="Calibri" panose="020F0502020204030204" pitchFamily="34" charset="0"/>
                <a:cs typeface="Arial" panose="020B0604020202020204" pitchFamily="34" charset="0"/>
              </a:rPr>
              <a:t>2 de octubre </a:t>
            </a:r>
            <a:r>
              <a:rPr lang="es-ES" altLang="es-MX" kern="0" dirty="0">
                <a:solidFill>
                  <a:prstClr val="black"/>
                </a:solidFill>
                <a:latin typeface="Arial" panose="020B0604020202020204" pitchFamily="34" charset="0"/>
                <a:ea typeface="Calibri" panose="020F0502020204030204" pitchFamily="34" charset="0"/>
                <a:cs typeface="Arial" panose="020B0604020202020204" pitchFamily="34" charset="0"/>
              </a:rPr>
              <a:t>de 2026</a:t>
            </a:r>
            <a:endParaRPr lang="es-ES" altLang="es-MX" sz="2000" kern="0" dirty="0">
              <a:solidFill>
                <a:prstClr val="black"/>
              </a:solidFill>
              <a:latin typeface="Arial" panose="020B0604020202020204" pitchFamily="34" charset="0"/>
            </a:endParaRPr>
          </a:p>
        </p:txBody>
      </p:sp>
      <p:pic>
        <p:nvPicPr>
          <p:cNvPr id="3" name="Image 1"/>
          <p:cNvPicPr>
            <a:picLocks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907323" y="229417"/>
            <a:ext cx="6318250" cy="110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978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Introducción</a:t>
            </a:r>
          </a:p>
        </p:txBody>
      </p:sp>
      <p:sp>
        <p:nvSpPr>
          <p:cNvPr id="3" name="Marcador de contenido 2"/>
          <p:cNvSpPr>
            <a:spLocks noGrp="1"/>
          </p:cNvSpPr>
          <p:nvPr>
            <p:ph idx="1"/>
          </p:nvPr>
        </p:nvSpPr>
        <p:spPr/>
        <p:txBody>
          <a:bodyPr/>
          <a:lstStyle/>
          <a:p>
            <a:r>
              <a:rPr lang="es-MX" dirty="0"/>
              <a:t>El presente </a:t>
            </a:r>
            <a:r>
              <a:rPr lang="es-MX" dirty="0"/>
              <a:t>banco de ejercicios</a:t>
            </a:r>
            <a:r>
              <a:rPr lang="es-MX" dirty="0"/>
              <a:t> ha sido diseñado como un compendio pedagógico y práctico para el estudio, desarrollo e implementación de modelos de simulación digital. A través de una serie de casos prácticos seleccionados, este documento ofrece una guía paso a paso para resolver problemas de complejidad gradual utilizando un enfoque tecnológico híbrido que integra </a:t>
            </a:r>
            <a:r>
              <a:rPr lang="es-MX" dirty="0" err="1"/>
              <a:t>JavaFX</a:t>
            </a:r>
            <a:r>
              <a:rPr lang="es-MX" dirty="0"/>
              <a:t>, Python y el lenguaje R</a:t>
            </a:r>
            <a:r>
              <a:rPr lang="es-MX" dirty="0"/>
              <a:t>.</a:t>
            </a:r>
          </a:p>
        </p:txBody>
      </p:sp>
    </p:spTree>
    <p:extLst>
      <p:ext uri="{BB962C8B-B14F-4D97-AF65-F5344CB8AC3E}">
        <p14:creationId xmlns:p14="http://schemas.microsoft.com/office/powerpoint/2010/main" val="2302622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Justificación</a:t>
            </a:r>
            <a:endParaRPr lang="es-MX" b="1" dirty="0"/>
          </a:p>
        </p:txBody>
      </p:sp>
      <p:sp>
        <p:nvSpPr>
          <p:cNvPr id="3" name="Marcador de contenido 2"/>
          <p:cNvSpPr>
            <a:spLocks noGrp="1"/>
          </p:cNvSpPr>
          <p:nvPr>
            <p:ph idx="1"/>
          </p:nvPr>
        </p:nvSpPr>
        <p:spPr/>
        <p:txBody>
          <a:bodyPr/>
          <a:lstStyle/>
          <a:p>
            <a:r>
              <a:rPr lang="es-MX" dirty="0" smtClean="0"/>
              <a:t>En </a:t>
            </a:r>
            <a:r>
              <a:rPr lang="es-MX" dirty="0"/>
              <a:t>la formación científico-tecnológica actual, el dominio teórico de la simulación resulta insuficiente si no se acompaña de habilidades técnicas para traducir modelos matemáticos en aplicaciones de software funcionales. Este banco de ejercicios se justifica por la necesidad de proveer un recurso didáctico integral que rompa con el esquema tradicional de aprender lenguajes de programación de manera aislada.</a:t>
            </a:r>
          </a:p>
          <a:p>
            <a:endParaRPr lang="es-MX" dirty="0"/>
          </a:p>
        </p:txBody>
      </p:sp>
    </p:spTree>
    <p:extLst>
      <p:ext uri="{BB962C8B-B14F-4D97-AF65-F5344CB8AC3E}">
        <p14:creationId xmlns:p14="http://schemas.microsoft.com/office/powerpoint/2010/main" val="2328286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669" y="2453054"/>
            <a:ext cx="3154315" cy="1774302"/>
          </a:xfrm>
          <a:prstGeom prst="rect">
            <a:avLst/>
          </a:prstGeom>
        </p:spPr>
      </p:pic>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6938" y="2576676"/>
            <a:ext cx="3154315" cy="1774302"/>
          </a:xfrm>
          <a:prstGeom prst="rect">
            <a:avLst/>
          </a:prstGeom>
        </p:spPr>
      </p:pic>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1015" y="4728517"/>
            <a:ext cx="3154315" cy="1774302"/>
          </a:xfrm>
          <a:prstGeom prst="rect">
            <a:avLst/>
          </a:prstGeom>
        </p:spPr>
      </p:pic>
      <p:pic>
        <p:nvPicPr>
          <p:cNvPr id="5" name="Imagen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69246" y="4662046"/>
            <a:ext cx="3154315" cy="1774302"/>
          </a:xfrm>
          <a:prstGeom prst="rect">
            <a:avLst/>
          </a:prstGeom>
        </p:spPr>
      </p:pic>
      <p:pic>
        <p:nvPicPr>
          <p:cNvPr id="6" name="Imagen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15300" y="4662046"/>
            <a:ext cx="3154315" cy="1774302"/>
          </a:xfrm>
          <a:prstGeom prst="rect">
            <a:avLst/>
          </a:prstGeom>
        </p:spPr>
      </p:pic>
      <p:sp>
        <p:nvSpPr>
          <p:cNvPr id="7" name="CuadroTexto 6"/>
          <p:cNvSpPr txBox="1"/>
          <p:nvPr/>
        </p:nvSpPr>
        <p:spPr>
          <a:xfrm>
            <a:off x="764931" y="562708"/>
            <a:ext cx="6972300" cy="369332"/>
          </a:xfrm>
          <a:prstGeom prst="rect">
            <a:avLst/>
          </a:prstGeom>
          <a:noFill/>
        </p:spPr>
        <p:txBody>
          <a:bodyPr wrap="square" rtlCol="0">
            <a:spAutoFit/>
          </a:bodyPr>
          <a:lstStyle/>
          <a:p>
            <a:r>
              <a:rPr lang="es-MX" dirty="0" smtClean="0"/>
              <a:t>Java </a:t>
            </a:r>
            <a:r>
              <a:rPr lang="es-MX" dirty="0" err="1" smtClean="0"/>
              <a:t>fx</a:t>
            </a:r>
            <a:endParaRPr lang="es-MX" dirty="0"/>
          </a:p>
        </p:txBody>
      </p:sp>
    </p:spTree>
    <p:extLst>
      <p:ext uri="{BB962C8B-B14F-4D97-AF65-F5344CB8AC3E}">
        <p14:creationId xmlns:p14="http://schemas.microsoft.com/office/powerpoint/2010/main" val="3123632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000" y="2136138"/>
            <a:ext cx="4076800" cy="2293200"/>
          </a:xfrm>
          <a:prstGeom prst="rect">
            <a:avLst/>
          </a:prstGeom>
        </p:spPr>
      </p:pic>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82431" y="2136138"/>
            <a:ext cx="4076800" cy="2293200"/>
          </a:xfrm>
          <a:prstGeom prst="rect">
            <a:avLst/>
          </a:prstGeom>
        </p:spPr>
      </p:pic>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000" y="4564800"/>
            <a:ext cx="4076800" cy="2293200"/>
          </a:xfrm>
          <a:prstGeom prst="rect">
            <a:avLst/>
          </a:prstGeom>
        </p:spPr>
      </p:pic>
      <p:pic>
        <p:nvPicPr>
          <p:cNvPr id="5" name="Imagen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82431" y="4564800"/>
            <a:ext cx="4076800" cy="2293200"/>
          </a:xfrm>
          <a:prstGeom prst="rect">
            <a:avLst/>
          </a:prstGeom>
        </p:spPr>
      </p:pic>
      <p:sp>
        <p:nvSpPr>
          <p:cNvPr id="6" name="CuadroTexto 5"/>
          <p:cNvSpPr txBox="1"/>
          <p:nvPr/>
        </p:nvSpPr>
        <p:spPr>
          <a:xfrm>
            <a:off x="398585" y="328246"/>
            <a:ext cx="9144000" cy="369332"/>
          </a:xfrm>
          <a:prstGeom prst="rect">
            <a:avLst/>
          </a:prstGeom>
          <a:noFill/>
        </p:spPr>
        <p:txBody>
          <a:bodyPr wrap="square" rtlCol="0">
            <a:spAutoFit/>
          </a:bodyPr>
          <a:lstStyle/>
          <a:p>
            <a:r>
              <a:rPr lang="es-MX" dirty="0" smtClean="0"/>
              <a:t>Lenguaje R</a:t>
            </a:r>
            <a:endParaRPr lang="es-MX" dirty="0"/>
          </a:p>
        </p:txBody>
      </p:sp>
    </p:spTree>
    <p:extLst>
      <p:ext uri="{BB962C8B-B14F-4D97-AF65-F5344CB8AC3E}">
        <p14:creationId xmlns:p14="http://schemas.microsoft.com/office/powerpoint/2010/main" val="2924298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2854" y="1485900"/>
            <a:ext cx="4025285" cy="2264223"/>
          </a:xfrm>
          <a:prstGeom prst="rect">
            <a:avLst/>
          </a:prstGeom>
        </p:spPr>
      </p:pic>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9931" y="1485900"/>
            <a:ext cx="4025285" cy="2264223"/>
          </a:xfrm>
          <a:prstGeom prst="rect">
            <a:avLst/>
          </a:prstGeom>
        </p:spPr>
      </p:pic>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238" y="3887261"/>
            <a:ext cx="4025285" cy="2264223"/>
          </a:xfrm>
          <a:prstGeom prst="rect">
            <a:avLst/>
          </a:prstGeom>
        </p:spPr>
      </p:pic>
      <p:pic>
        <p:nvPicPr>
          <p:cNvPr id="5" name="Imagen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33316" y="4142769"/>
            <a:ext cx="4025285" cy="2264223"/>
          </a:xfrm>
          <a:prstGeom prst="rect">
            <a:avLst/>
          </a:prstGeom>
        </p:spPr>
      </p:pic>
      <p:sp>
        <p:nvSpPr>
          <p:cNvPr id="6" name="CuadroTexto 5"/>
          <p:cNvSpPr txBox="1"/>
          <p:nvPr/>
        </p:nvSpPr>
        <p:spPr>
          <a:xfrm>
            <a:off x="1485900" y="606669"/>
            <a:ext cx="4097215" cy="369332"/>
          </a:xfrm>
          <a:prstGeom prst="rect">
            <a:avLst/>
          </a:prstGeom>
          <a:noFill/>
        </p:spPr>
        <p:txBody>
          <a:bodyPr wrap="square" rtlCol="0">
            <a:spAutoFit/>
          </a:bodyPr>
          <a:lstStyle/>
          <a:p>
            <a:r>
              <a:rPr lang="es-MX" dirty="0" err="1" smtClean="0"/>
              <a:t>python</a:t>
            </a:r>
            <a:endParaRPr lang="es-MX" dirty="0"/>
          </a:p>
        </p:txBody>
      </p:sp>
    </p:spTree>
    <p:extLst>
      <p:ext uri="{BB962C8B-B14F-4D97-AF65-F5344CB8AC3E}">
        <p14:creationId xmlns:p14="http://schemas.microsoft.com/office/powerpoint/2010/main" val="3587927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Conclusión</a:t>
            </a:r>
            <a:endParaRPr lang="es-MX" b="1" dirty="0"/>
          </a:p>
        </p:txBody>
      </p:sp>
      <p:sp>
        <p:nvSpPr>
          <p:cNvPr id="3" name="Marcador de contenido 2"/>
          <p:cNvSpPr>
            <a:spLocks noGrp="1"/>
          </p:cNvSpPr>
          <p:nvPr>
            <p:ph idx="1"/>
          </p:nvPr>
        </p:nvSpPr>
        <p:spPr/>
        <p:txBody>
          <a:bodyPr/>
          <a:lstStyle/>
          <a:p>
            <a:r>
              <a:rPr lang="es-MX" dirty="0" smtClean="0"/>
              <a:t>La </a:t>
            </a:r>
            <a:r>
              <a:rPr lang="es-MX" dirty="0"/>
              <a:t>recopilación y resolución de los casos prácticos incluidos en este banco de ejercicios demuestra que </a:t>
            </a:r>
            <a:r>
              <a:rPr lang="es-MX" b="1" dirty="0"/>
              <a:t>la integración de </a:t>
            </a:r>
            <a:r>
              <a:rPr lang="es-MX" b="1" dirty="0" err="1"/>
              <a:t>JavaFX</a:t>
            </a:r>
            <a:r>
              <a:rPr lang="es-MX" b="1" dirty="0"/>
              <a:t>, Python y R constituye una de las metodologías más robustas y versátiles para la enseñanza y aplicación de la simulación</a:t>
            </a:r>
            <a:r>
              <a:rPr lang="es-MX" dirty="0"/>
              <a:t>.</a:t>
            </a:r>
          </a:p>
        </p:txBody>
      </p:sp>
    </p:spTree>
    <p:extLst>
      <p:ext uri="{BB962C8B-B14F-4D97-AF65-F5344CB8AC3E}">
        <p14:creationId xmlns:p14="http://schemas.microsoft.com/office/powerpoint/2010/main" val="131573296"/>
      </p:ext>
    </p:extLst>
  </p:cSld>
  <p:clrMapOvr>
    <a:masterClrMapping/>
  </p:clrMapOvr>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TotalTime>
  <Words>242</Words>
  <Application>Microsoft Office PowerPoint</Application>
  <PresentationFormat>Panorámica</PresentationFormat>
  <Paragraphs>25</Paragraphs>
  <Slides>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Arial</vt:lpstr>
      <vt:lpstr>Calibri</vt:lpstr>
      <vt:lpstr>Trebuchet MS</vt:lpstr>
      <vt:lpstr>Wingdings 3</vt:lpstr>
      <vt:lpstr>Faceta</vt:lpstr>
      <vt:lpstr>Presentación de PowerPoint</vt:lpstr>
      <vt:lpstr>Introducción</vt:lpstr>
      <vt:lpstr>Justificación</vt:lpstr>
      <vt:lpstr>Presentación de PowerPoint</vt:lpstr>
      <vt:lpstr>Presentación de PowerPoint</vt:lpstr>
      <vt:lpstr>Presentación de PowerPoint</vt:lpstr>
      <vt:lpstr>Conclusión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 AMD</dc:creator>
  <cp:lastModifiedBy>HP AMD</cp:lastModifiedBy>
  <cp:revision>2</cp:revision>
  <dcterms:created xsi:type="dcterms:W3CDTF">2026-10-04T03:58:09Z</dcterms:created>
  <dcterms:modified xsi:type="dcterms:W3CDTF">2026-10-04T04:08:08Z</dcterms:modified>
</cp:coreProperties>
</file>